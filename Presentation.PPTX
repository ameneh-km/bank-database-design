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336723C-38F7-4F99-AF76-37A9C3B66BAE}">
          <p14:sldIdLst>
            <p14:sldId id="256"/>
            <p14:sldId id="257"/>
            <p14:sldId id="261"/>
            <p14:sldId id="258"/>
            <p14:sldId id="259"/>
            <p14:sldId id="262"/>
            <p14:sldId id="263"/>
            <p14:sldId id="265"/>
            <p14:sldId id="264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18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9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8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3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3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85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5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0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0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5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0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6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50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44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3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DDF98-C922-483F-97E9-3E76B0201B42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2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  <p:sldLayoutId id="2147483956" r:id="rId14"/>
    <p:sldLayoutId id="2147483957" r:id="rId15"/>
    <p:sldLayoutId id="214748395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E0B9A-DAF8-CE8A-AFD5-176C4C86C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0322"/>
            <a:ext cx="9144000" cy="641022"/>
          </a:xfrm>
        </p:spPr>
        <p:txBody>
          <a:bodyPr>
            <a:normAutofit/>
          </a:bodyPr>
          <a:lstStyle/>
          <a:p>
            <a:pPr algn="l"/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34EC8-4BBD-5A61-CD1F-DCD02E724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08208"/>
            <a:ext cx="7695414" cy="324959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sz="2400" b="0" i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project is to create a database for online banking that enables banks to effectively manage data regarding their customers, </a:t>
            </a:r>
            <a:r>
              <a:rPr lang="en-GB" sz="2400" b="0" i="0">
                <a:solidFill>
                  <a:srgbClr val="3435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various accounts and transactions in an organized manner</a:t>
            </a:r>
            <a:r>
              <a:rPr lang="en-GB" sz="2400" b="0" i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2400" b="0" i="0">
                <a:solidFill>
                  <a:srgbClr val="34354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database shall help banks to maintain their information at one place and provide an overview of the bank operations. </a:t>
            </a:r>
          </a:p>
          <a:p>
            <a:pPr algn="just">
              <a:lnSpc>
                <a:spcPct val="150000"/>
              </a:lnSpc>
            </a:pPr>
            <a:endParaRPr lang="en-GB" sz="2400">
              <a:solidFill>
                <a:srgbClr val="3435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138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FB36-57FE-80CD-CF84-7D20CC2B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3720"/>
          </a:xfrm>
        </p:spPr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53B6DA-009B-E6B8-26CD-7D4C273B3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9053"/>
            <a:ext cx="8596668" cy="4792310"/>
          </a:xfrm>
        </p:spPr>
        <p:txBody>
          <a:bodyPr>
            <a:noAutofit/>
          </a:bodyPr>
          <a:lstStyle/>
          <a:p>
            <a:pPr algn="just"/>
            <a:r>
              <a:rPr lang="en-IN" sz="24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first stage of database design was to develop an Entity-Relationship diagram to describe information to be stored in a database. An ER diagram is used as a blueprint to build a database. It is a graphical representation of the information system, its entities and various relationships that can exist between them. An entity represents a table in the relational database. During this project, ER diagram helped in identifying the important tables and mapping the requirements in a more concise manner. </a:t>
            </a:r>
            <a:endParaRPr lang="en-GB" sz="2400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/>
            <a:endParaRPr 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80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3AA1-973D-DF19-13FA-78EB1D9E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8305"/>
          </a:xfrm>
        </p:spPr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6C147-F387-090F-1690-3129BCEB1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7905"/>
            <a:ext cx="8596668" cy="4773457"/>
          </a:xfrm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IN" sz="24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initial ERD, the basic requirements of the online banking system were captured and below tables were identified:</a:t>
            </a:r>
            <a:endParaRPr lang="en-IN" sz="2400" u="none" strike="noStrike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IN" sz="240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Branches</a:t>
            </a:r>
            <a:endParaRPr lang="en-GB" sz="2400" u="none" strike="noStrike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IN" sz="240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endParaRPr lang="en-GB" sz="2400" u="none" strike="noStrike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IN" sz="240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Accounts</a:t>
            </a:r>
            <a:endParaRPr lang="en-GB" sz="2400" u="none" strike="noStrike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IN" sz="2400" u="none" strike="noStrike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Credit_Cards</a:t>
            </a:r>
            <a:endParaRPr lang="en-GB" sz="2400" u="none" strike="noStrike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IN" sz="2400" u="none" strike="noStrike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Banking_Transactions</a:t>
            </a:r>
            <a:endParaRPr lang="en-GB" sz="2400" u="none" strike="noStrike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IN" sz="2400" u="none" strike="noStrike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CC_Transactions</a:t>
            </a:r>
            <a:endParaRPr lang="en-GB" sz="2400" u="none" strike="noStrike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IN" sz="2400" u="none" strike="noStrike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Loan_Details</a:t>
            </a:r>
            <a:endParaRPr lang="en-GB" sz="2400" u="none" strike="noStrike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84980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A5CD-E449-E42F-8EA1-E57C2B370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4103"/>
          </a:xfrm>
        </p:spPr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F7942-BACE-E9D6-F993-8FF66C242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0771"/>
            <a:ext cx="8596668" cy="4820591"/>
          </a:xfrm>
        </p:spPr>
        <p:txBody>
          <a:bodyPr>
            <a:noAutofit/>
          </a:bodyPr>
          <a:lstStyle/>
          <a:p>
            <a:pPr algn="just"/>
            <a:r>
              <a:rPr lang="en-GB" sz="2400" b="0" i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identifying the tables, the attributes for each table were specified. </a:t>
            </a:r>
            <a:r>
              <a:rPr lang="en-IN" sz="24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keys were also established to ensure every table has a unique identifier column for their records. </a:t>
            </a:r>
            <a:r>
              <a:rPr lang="en-IN" sz="240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elationships between the tables were also idefined. </a:t>
            </a:r>
          </a:p>
          <a:p>
            <a:pPr algn="just"/>
            <a:r>
              <a:rPr lang="en-IN" sz="2400" b="1" u="none" strike="noStrike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to many relationship </a:t>
            </a:r>
            <a:r>
              <a:rPr lang="en-IN" sz="2400" u="none" strike="noStrike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This type of relation was established between Branches and Accounts, customer and banking transaction, customer and credit cards, credit cards and </a:t>
            </a:r>
            <a:r>
              <a:rPr lang="en-IN" sz="2400" u="none" strike="noStrike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cc_transactions</a:t>
            </a:r>
            <a:r>
              <a:rPr lang="en-IN" sz="2400" u="none" strike="noStrike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IN" sz="2400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also one to many relation between customers and loans with zero or 1 cardinality as it wasn’t necessary that all customers had taken loans. </a:t>
            </a:r>
            <a:endParaRPr lang="en-IN" sz="240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7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2E9A-A10A-A24A-09A9-A676294B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4551"/>
          </a:xfrm>
        </p:spPr>
        <p:txBody>
          <a:bodyPr>
            <a:no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07204DF-C413-A967-0F18-E20A7AD1F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45" y="1205319"/>
            <a:ext cx="7483032" cy="4863236"/>
          </a:xfrm>
        </p:spPr>
      </p:pic>
    </p:spTree>
    <p:extLst>
      <p:ext uri="{BB962C8B-B14F-4D97-AF65-F5344CB8AC3E}">
        <p14:creationId xmlns:p14="http://schemas.microsoft.com/office/powerpoint/2010/main" val="382993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8ADC-C80A-4C19-1CCE-F9CFF4C41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3720"/>
          </a:xfrm>
        </p:spPr>
        <p:txBody>
          <a:bodyPr>
            <a:normAutofit/>
          </a:bodyPr>
          <a:lstStyle/>
          <a:p>
            <a:pPr algn="just"/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Query 1: Gaining the total amount of transactions for each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2AD53-8DE8-3CEC-6991-149FBA3A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7143"/>
            <a:ext cx="8596668" cy="4514220"/>
          </a:xfrm>
        </p:spPr>
        <p:txBody>
          <a:bodyPr>
            <a:normAutofit/>
          </a:bodyPr>
          <a:lstStyle/>
          <a:p>
            <a:endParaRPr 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this banking transactions for each customer at the same branch are identified.</a:t>
            </a:r>
          </a:p>
          <a:p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Join on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banking_transactions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customer,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account_customers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accounts and branches are performed. </a:t>
            </a:r>
          </a:p>
          <a:p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Then if the transaction type is credit the amount is added and if it is debit the amount is subtracted from the total amount.</a:t>
            </a:r>
          </a:p>
          <a:p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‘amount’ is calculated by '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tr_amount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funtion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8352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D4BA2-C6F6-9EFD-3E79-8F540FA0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Query 1: Gaining the total amount of transactions for each branch</a:t>
            </a:r>
          </a:p>
        </p:txBody>
      </p:sp>
      <p:pic>
        <p:nvPicPr>
          <p:cNvPr id="5" name="Content Placeholder 4" descr="A screenshot of a computer code&#10;&#10;Description automatically generated with low confidence">
            <a:extLst>
              <a:ext uri="{FF2B5EF4-FFF2-40B4-BE49-F238E27FC236}">
                <a16:creationId xmlns:a16="http://schemas.microsoft.com/office/drawing/2014/main" id="{03BD1268-6851-0293-D4FD-38FE0624A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579945"/>
            <a:ext cx="8756033" cy="4668455"/>
          </a:xfrm>
        </p:spPr>
      </p:pic>
    </p:spTree>
    <p:extLst>
      <p:ext uri="{BB962C8B-B14F-4D97-AF65-F5344CB8AC3E}">
        <p14:creationId xmlns:p14="http://schemas.microsoft.com/office/powerpoint/2010/main" val="2042470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5E13-7094-7209-21E1-AA1D6756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Query 1: Gaining the total amount of transactions for each branch</a:t>
            </a:r>
          </a:p>
        </p:txBody>
      </p:sp>
      <p:pic>
        <p:nvPicPr>
          <p:cNvPr id="5" name="Content Placeholder 4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1740C4CA-2014-2E8D-36B9-D58CBF833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152891"/>
            <a:ext cx="9271107" cy="4224760"/>
          </a:xfrm>
        </p:spPr>
      </p:pic>
    </p:spTree>
    <p:extLst>
      <p:ext uri="{BB962C8B-B14F-4D97-AF65-F5344CB8AC3E}">
        <p14:creationId xmlns:p14="http://schemas.microsoft.com/office/powerpoint/2010/main" val="2774543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265C-FDF0-7268-5101-C8CD92E6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Query 1</a:t>
            </a:r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F8AD66BE-158E-CAE9-9B2D-96EBCE29C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71" y="1713053"/>
            <a:ext cx="7679802" cy="4774557"/>
          </a:xfrm>
        </p:spPr>
      </p:pic>
    </p:spTree>
    <p:extLst>
      <p:ext uri="{BB962C8B-B14F-4D97-AF65-F5344CB8AC3E}">
        <p14:creationId xmlns:p14="http://schemas.microsoft.com/office/powerpoint/2010/main" val="4138494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654A-248C-943F-6766-63B38386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1043"/>
          </a:xfrm>
        </p:spPr>
        <p:txBody>
          <a:bodyPr>
            <a:normAutofit/>
          </a:bodyPr>
          <a:lstStyle/>
          <a:p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Query 2: Gaining average interest rate for each loan type.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52C16-2A40-09EF-9258-50A900779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48293"/>
            <a:ext cx="8596668" cy="3793070"/>
          </a:xfrm>
        </p:spPr>
        <p:txBody>
          <a:bodyPr>
            <a:normAutofit/>
          </a:bodyPr>
          <a:lstStyle/>
          <a:p>
            <a:endParaRPr lang="en-GB" sz="2400"/>
          </a:p>
          <a:p>
            <a:r>
              <a:rPr lang="en-GB" sz="2400"/>
              <a:t>Inner join on customers and loan is performed.</a:t>
            </a:r>
          </a:p>
          <a:p>
            <a:endParaRPr lang="en-GB" sz="2400"/>
          </a:p>
          <a:p>
            <a:r>
              <a:rPr lang="en-GB" sz="2400" err="1"/>
              <a:t>avg</a:t>
            </a:r>
            <a:r>
              <a:rPr lang="en-GB" sz="2400"/>
              <a:t> function to calculate average </a:t>
            </a:r>
            <a:r>
              <a:rPr lang="en-GB" sz="2400" err="1"/>
              <a:t>interest_rate</a:t>
            </a:r>
            <a:r>
              <a:rPr lang="en-GB" sz="2400"/>
              <a:t> and group by to group the </a:t>
            </a:r>
            <a:r>
              <a:rPr lang="en-GB" sz="2400" err="1"/>
              <a:t>loan_types</a:t>
            </a:r>
            <a:r>
              <a:rPr lang="en-GB" sz="2400"/>
              <a:t> are used.</a:t>
            </a:r>
          </a:p>
        </p:txBody>
      </p:sp>
    </p:spTree>
    <p:extLst>
      <p:ext uri="{BB962C8B-B14F-4D97-AF65-F5344CB8AC3E}">
        <p14:creationId xmlns:p14="http://schemas.microsoft.com/office/powerpoint/2010/main" val="24750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CA3C-601F-80B5-85FF-D430024C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Query 2: Gaining average interest rate for each loan type.</a:t>
            </a:r>
            <a:endParaRPr lang="en-GB" sz="2500"/>
          </a:p>
        </p:txBody>
      </p:sp>
      <p:pic>
        <p:nvPicPr>
          <p:cNvPr id="5" name="Content Placeholder 4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2C4FF72C-5639-612B-6540-5C190597E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887" y="2073897"/>
            <a:ext cx="7136090" cy="4174503"/>
          </a:xfrm>
        </p:spPr>
      </p:pic>
    </p:spTree>
    <p:extLst>
      <p:ext uri="{BB962C8B-B14F-4D97-AF65-F5344CB8AC3E}">
        <p14:creationId xmlns:p14="http://schemas.microsoft.com/office/powerpoint/2010/main" val="2573558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15723-681C-B32A-1264-DD41CC01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Query 2: Gaining average interest rate for each loan type.</a:t>
            </a:r>
            <a:endParaRPr lang="en-GB" sz="2500"/>
          </a:p>
        </p:txBody>
      </p:sp>
      <p:pic>
        <p:nvPicPr>
          <p:cNvPr id="7" name="Content Placeholder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F398677-7C1D-3580-F528-C098BE6C1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33" y="1814660"/>
            <a:ext cx="8074058" cy="3112941"/>
          </a:xfrm>
        </p:spPr>
      </p:pic>
    </p:spTree>
    <p:extLst>
      <p:ext uri="{BB962C8B-B14F-4D97-AF65-F5344CB8AC3E}">
        <p14:creationId xmlns:p14="http://schemas.microsoft.com/office/powerpoint/2010/main" val="4268136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4602-43A3-A3AD-3DF6-A7C2E474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3274"/>
          </a:xfrm>
        </p:spPr>
        <p:txBody>
          <a:bodyPr>
            <a:normAutofit fontScale="90000"/>
          </a:bodyPr>
          <a:lstStyle/>
          <a:p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Query 3:Gaining the count of credit card transactions per month for each customer. </a:t>
            </a:r>
          </a:p>
        </p:txBody>
      </p:sp>
      <p:pic>
        <p:nvPicPr>
          <p:cNvPr id="7" name="Content Placeholder 6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9D02F910-BD70-805A-72C6-64D79C49F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21" y="1574276"/>
            <a:ext cx="7880808" cy="4242062"/>
          </a:xfrm>
        </p:spPr>
      </p:pic>
    </p:spTree>
    <p:extLst>
      <p:ext uri="{BB962C8B-B14F-4D97-AF65-F5344CB8AC3E}">
        <p14:creationId xmlns:p14="http://schemas.microsoft.com/office/powerpoint/2010/main" val="2798432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BE4E5-C3AC-E606-48EA-665FE25B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latin typeface="Times New Roman" panose="02020603050405020304" pitchFamily="18" charset="0"/>
                <a:cs typeface="Times New Roman" panose="02020603050405020304" pitchFamily="18" charset="0"/>
              </a:rPr>
              <a:t>Query 3:Gaining the count of credit card transactions per month for each customer. </a:t>
            </a:r>
            <a:endParaRPr lang="en-GB" sz="2300"/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0A76465-3B21-CFBB-7A12-92B76AA8C4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69" y="1692111"/>
            <a:ext cx="7277493" cy="4086520"/>
          </a:xfrm>
        </p:spPr>
      </p:pic>
    </p:spTree>
    <p:extLst>
      <p:ext uri="{BB962C8B-B14F-4D97-AF65-F5344CB8AC3E}">
        <p14:creationId xmlns:p14="http://schemas.microsoft.com/office/powerpoint/2010/main" val="381275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5E0E-3326-5C08-1BFD-D1EDFEBE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Query 4: Creating a SP that accepts </a:t>
            </a:r>
            <a:r>
              <a:rPr lang="en-GB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accountid</a:t>
            </a:r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 as a parameter and returns customer's full name. </a:t>
            </a:r>
          </a:p>
        </p:txBody>
      </p:sp>
      <p:pic>
        <p:nvPicPr>
          <p:cNvPr id="5" name="Content Placeholder 4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89A9DC78-9F8A-4523-A6F8-52697B089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99" y="1998482"/>
            <a:ext cx="6989975" cy="4477731"/>
          </a:xfrm>
        </p:spPr>
      </p:pic>
    </p:spTree>
    <p:extLst>
      <p:ext uri="{BB962C8B-B14F-4D97-AF65-F5344CB8AC3E}">
        <p14:creationId xmlns:p14="http://schemas.microsoft.com/office/powerpoint/2010/main" val="754175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B02E-45FC-71FB-0D8D-31B0127F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Query 4: Creating a SP that accepts </a:t>
            </a:r>
            <a:r>
              <a:rPr lang="en-GB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accountid</a:t>
            </a:r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 as a parameter and returns customer's full name. </a:t>
            </a:r>
          </a:p>
        </p:txBody>
      </p:sp>
      <p:pic>
        <p:nvPicPr>
          <p:cNvPr id="9" name="Content Placeholder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51A988B-C64E-AEB4-A60C-5475AAC0A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142" y="2545452"/>
            <a:ext cx="6113283" cy="1767096"/>
          </a:xfrm>
        </p:spPr>
      </p:pic>
    </p:spTree>
    <p:extLst>
      <p:ext uri="{BB962C8B-B14F-4D97-AF65-F5344CB8AC3E}">
        <p14:creationId xmlns:p14="http://schemas.microsoft.com/office/powerpoint/2010/main" val="3753463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FB44-B254-0087-C5E9-E3C40CDD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E5BBE-E50D-FF9E-4A4C-E870B4952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Some tables such as ‘employee’ and ‘</a:t>
            </a:r>
            <a:r>
              <a:rPr lang="en-GB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branch_employee</a:t>
            </a:r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en-GB" sz="25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transaction_error</a:t>
            </a:r>
            <a:r>
              <a:rPr lang="en-GB" sz="2500">
                <a:latin typeface="Times New Roman" panose="02020603050405020304" pitchFamily="18" charset="0"/>
                <a:cs typeface="Times New Roman" panose="02020603050405020304" pitchFamily="18" charset="0"/>
              </a:rPr>
              <a:t>’ were not taken into consideration.</a:t>
            </a:r>
          </a:p>
          <a:p>
            <a:pPr algn="just">
              <a:lnSpc>
                <a:spcPct val="150000"/>
              </a:lnSpc>
            </a:pPr>
            <a:r>
              <a:rPr lang="en-IN" sz="25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Banking operations such as withdrawal, deposit, </a:t>
            </a:r>
            <a:r>
              <a:rPr lang="en-IN" sz="25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IN" sz="25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transactions were not explicitly addressed and were included as a part of </a:t>
            </a:r>
            <a:r>
              <a:rPr lang="en-IN" sz="25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banking_transactions</a:t>
            </a:r>
            <a:r>
              <a:rPr lang="en-IN" sz="25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  <a:endParaRPr lang="en-GB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186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E8EFE-98AF-BF7B-44FD-E15A14E9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B96E6-431F-42A5-E7E4-355F78D54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006322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220</TotalTime>
  <Words>583</Words>
  <Application>Microsoft Office PowerPoint</Application>
  <PresentationFormat>Widescreen</PresentationFormat>
  <Paragraphs>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Times New Roman</vt:lpstr>
      <vt:lpstr>Trebuchet MS</vt:lpstr>
      <vt:lpstr>Wingdings 3</vt:lpstr>
      <vt:lpstr>Facet</vt:lpstr>
      <vt:lpstr>The purpose of project</vt:lpstr>
      <vt:lpstr>ER Diagram</vt:lpstr>
      <vt:lpstr>Tables</vt:lpstr>
      <vt:lpstr>Relationships</vt:lpstr>
      <vt:lpstr>ER Diagram</vt:lpstr>
      <vt:lpstr>Query 1: Gaining the total amount of transactions for each branch</vt:lpstr>
      <vt:lpstr>Query 1: Gaining the total amount of transactions for each branch</vt:lpstr>
      <vt:lpstr>Query 1: Gaining the total amount of transactions for each branch</vt:lpstr>
      <vt:lpstr>Query 1</vt:lpstr>
      <vt:lpstr>Query 2: Gaining average interest rate for each loan type.</vt:lpstr>
      <vt:lpstr>Query 2: Gaining average interest rate for each loan type.</vt:lpstr>
      <vt:lpstr>Query 2: Gaining average interest rate for each loan type.</vt:lpstr>
      <vt:lpstr>Query 3:Gaining the count of credit card transactions per month for each customer. </vt:lpstr>
      <vt:lpstr>Query 3:Gaining the count of credit card transactions per month for each customer. </vt:lpstr>
      <vt:lpstr>Query 4: Creating a SP that accepts accountid as a parameter and returns customer's full name. </vt:lpstr>
      <vt:lpstr>Query 4: Creating a SP that accepts accountid as a parameter and returns customer's full name. 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Purpose of Project</dc:title>
  <dc:creator>ami km</dc:creator>
  <cp:lastModifiedBy>ami km</cp:lastModifiedBy>
  <cp:revision>35</cp:revision>
  <dcterms:created xsi:type="dcterms:W3CDTF">2023-07-04T11:24:22Z</dcterms:created>
  <dcterms:modified xsi:type="dcterms:W3CDTF">2023-07-05T17:30:47Z</dcterms:modified>
</cp:coreProperties>
</file>